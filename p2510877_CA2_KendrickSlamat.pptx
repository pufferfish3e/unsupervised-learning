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0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655aed631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c655aed631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653cc6c54_3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c653cc6c54_3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655aed63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c655aed63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653cc6c54_3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c653cc6c54_3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655aed631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c655aed63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655aed631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c655aed63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655aed631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c655aed631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655aed631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c655aed631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653cc6c54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c653cc6c54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655aed631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c655aed631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898654" y="-1195209"/>
            <a:ext cx="12015783" cy="10258475"/>
          </a:xfrm>
          <a:custGeom>
            <a:avLst/>
            <a:gdLst/>
            <a:ahLst/>
            <a:cxnLst/>
            <a:rect l="l" t="t" r="r" b="b"/>
            <a:pathLst>
              <a:path w="24031566" h="20516950" extrusionOk="0">
                <a:moveTo>
                  <a:pt x="0" y="0"/>
                </a:moveTo>
                <a:lnTo>
                  <a:pt x="24031567" y="0"/>
                </a:lnTo>
                <a:lnTo>
                  <a:pt x="24031567" y="20516950"/>
                </a:lnTo>
                <a:lnTo>
                  <a:pt x="0" y="20516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85" name="Google Shape;85;p13"/>
          <p:cNvSpPr txBox="1"/>
          <p:nvPr/>
        </p:nvSpPr>
        <p:spPr>
          <a:xfrm>
            <a:off x="357710" y="516644"/>
            <a:ext cx="751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FFFFFF"/>
                </a:solidFill>
              </a:rPr>
              <a:t>Customer Segmentation </a:t>
            </a:r>
            <a:endParaRPr sz="3000"/>
          </a:p>
        </p:txBody>
      </p:sp>
      <p:sp>
        <p:nvSpPr>
          <p:cNvPr id="86" name="Google Shape;86;p13"/>
          <p:cNvSpPr txBox="1"/>
          <p:nvPr/>
        </p:nvSpPr>
        <p:spPr>
          <a:xfrm>
            <a:off x="311096" y="1121053"/>
            <a:ext cx="5729400" cy="9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This project applies unsupervised learning to identify distinct customer segments based on demographic and spending behavior, enabling targeted business decisions rather than one-size-fits-all strategies.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This supports more targeted and effective business decisions.</a:t>
            </a:r>
            <a:endParaRPr sz="1300" dirty="0">
              <a:solidFill>
                <a:srgbClr val="FFFFFF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379430" y="2384278"/>
            <a:ext cx="338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84460" y="2692902"/>
            <a:ext cx="751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FFFFFF"/>
                </a:solidFill>
              </a:rPr>
              <a:t>Energy Consumption Forecasting</a:t>
            </a:r>
            <a:endParaRPr sz="3000"/>
          </a:p>
        </p:txBody>
      </p:sp>
      <p:sp>
        <p:nvSpPr>
          <p:cNvPr id="89" name="Google Shape;89;p13"/>
          <p:cNvSpPr txBox="1"/>
          <p:nvPr/>
        </p:nvSpPr>
        <p:spPr>
          <a:xfrm>
            <a:off x="284446" y="3340828"/>
            <a:ext cx="5631600" cy="8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FFFFF"/>
                </a:solidFill>
              </a:rPr>
              <a:t>This project focuses on forecasting future energy consumption using historical time-series data. Accurate energy demand predictions support better planning, resource allocation, and sustainability efforts, especially in the presence of long-term trends and seasonal patterns.</a:t>
            </a:r>
            <a:endParaRPr sz="1300" dirty="0">
              <a:solidFill>
                <a:srgbClr val="FFFFFF"/>
              </a:solidFill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2460" y="2903781"/>
            <a:ext cx="3726679" cy="219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7550" y="705567"/>
            <a:ext cx="3476449" cy="21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EFB1558D-AC4A-170F-9707-854E262F88AF}"/>
              </a:ext>
            </a:extLst>
          </p:cNvPr>
          <p:cNvSpPr txBox="1"/>
          <p:nvPr/>
        </p:nvSpPr>
        <p:spPr>
          <a:xfrm>
            <a:off x="6785122" y="104720"/>
            <a:ext cx="5631600" cy="23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FFFFF"/>
                </a:solidFill>
              </a:rPr>
              <a:t>By: Kendrick </a:t>
            </a:r>
            <a:r>
              <a:rPr lang="en-GB" sz="1300" dirty="0" err="1">
                <a:solidFill>
                  <a:srgbClr val="FFFFFF"/>
                </a:solidFill>
              </a:rPr>
              <a:t>Slamat</a:t>
            </a:r>
            <a:r>
              <a:rPr lang="en-GB" sz="1300" dirty="0">
                <a:solidFill>
                  <a:srgbClr val="FFFFFF"/>
                </a:solidFill>
              </a:rPr>
              <a:t>, DAAA/03</a:t>
            </a:r>
            <a:endParaRPr sz="13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1937777" y="-2497750"/>
            <a:ext cx="13512158" cy="10160559"/>
          </a:xfrm>
          <a:custGeom>
            <a:avLst/>
            <a:gdLst/>
            <a:ahLst/>
            <a:cxnLst/>
            <a:rect l="l" t="t" r="r" b="b"/>
            <a:pathLst>
              <a:path w="20787936" h="17747701" extrusionOk="0">
                <a:moveTo>
                  <a:pt x="0" y="0"/>
                </a:moveTo>
                <a:lnTo>
                  <a:pt x="20787936" y="0"/>
                </a:lnTo>
                <a:lnTo>
                  <a:pt x="20787936" y="17747700"/>
                </a:lnTo>
                <a:lnTo>
                  <a:pt x="0" y="177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7" name="Google Shape;97;p14"/>
          <p:cNvSpPr/>
          <p:nvPr/>
        </p:nvSpPr>
        <p:spPr>
          <a:xfrm>
            <a:off x="6072525" y="226425"/>
            <a:ext cx="2794200" cy="4483200"/>
          </a:xfrm>
          <a:prstGeom prst="roundRect">
            <a:avLst>
              <a:gd name="adj" fmla="val 10465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4"/>
          <p:cNvGrpSpPr/>
          <p:nvPr/>
        </p:nvGrpSpPr>
        <p:grpSpPr>
          <a:xfrm>
            <a:off x="514225" y="178725"/>
            <a:ext cx="5219957" cy="1607767"/>
            <a:chOff x="0" y="-47625"/>
            <a:chExt cx="1379700" cy="777300"/>
          </a:xfrm>
        </p:grpSpPr>
        <p:sp>
          <p:nvSpPr>
            <p:cNvPr id="99" name="Google Shape;99;p14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 extrusionOk="0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0" y="-47625"/>
              <a:ext cx="1379700" cy="77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514225" y="1956896"/>
            <a:ext cx="5219957" cy="1251262"/>
            <a:chOff x="-44" y="-256509"/>
            <a:chExt cx="1379700" cy="733749"/>
          </a:xfrm>
        </p:grpSpPr>
        <p:sp>
          <p:nvSpPr>
            <p:cNvPr id="102" name="Google Shape;102;p14"/>
            <p:cNvSpPr/>
            <p:nvPr/>
          </p:nvSpPr>
          <p:spPr>
            <a:xfrm>
              <a:off x="9" y="-256509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 extrusionOk="0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-44" y="-115860"/>
              <a:ext cx="1379700" cy="59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4"/>
          <p:cNvSpPr txBox="1"/>
          <p:nvPr/>
        </p:nvSpPr>
        <p:spPr>
          <a:xfrm>
            <a:off x="735631" y="433954"/>
            <a:ext cx="4937654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Data Preparation/EDA (Customer Segmentation)</a:t>
            </a:r>
            <a:endParaRPr sz="7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599000" y="810676"/>
            <a:ext cx="432674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Performed initial data inspection (</a:t>
            </a:r>
            <a:r>
              <a:rPr lang="en-US" sz="1000" i="1" dirty="0">
                <a:solidFill>
                  <a:schemeClr val="lt1"/>
                </a:solidFill>
              </a:rPr>
              <a:t>df.info</a:t>
            </a:r>
            <a:r>
              <a:rPr lang="en-US" sz="1000" dirty="0">
                <a:solidFill>
                  <a:schemeClr val="lt1"/>
                </a:solidFill>
              </a:rPr>
              <a:t>, </a:t>
            </a:r>
            <a:r>
              <a:rPr lang="en-US" sz="1000" i="1" dirty="0" err="1">
                <a:solidFill>
                  <a:schemeClr val="lt1"/>
                </a:solidFill>
              </a:rPr>
              <a:t>df.describe</a:t>
            </a:r>
            <a:r>
              <a:rPr lang="en-US" sz="1000" dirty="0">
                <a:solidFill>
                  <a:schemeClr val="lt1"/>
                </a:solidFill>
              </a:rPr>
              <a:t>),</a:t>
            </a:r>
          </a:p>
          <a:p>
            <a:pPr marL="457200" lvl="0" indent="-2921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Handled missing values and duplicates</a:t>
            </a:r>
          </a:p>
          <a:p>
            <a:pPr marL="457200" lvl="0" indent="-2921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Removed extreme outliers using IQR</a:t>
            </a:r>
          </a:p>
          <a:p>
            <a:pPr marL="457200" lvl="0" indent="-2921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Standardized features to ensure fair distance-based clustering</a:t>
            </a:r>
            <a:endParaRPr sz="1000" dirty="0">
              <a:solidFill>
                <a:schemeClr val="lt1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67245" y="2101291"/>
            <a:ext cx="344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</a:rPr>
              <a:t>Data Visualization</a:t>
            </a:r>
            <a:endParaRPr sz="700"/>
          </a:p>
        </p:txBody>
      </p:sp>
      <p:sp>
        <p:nvSpPr>
          <p:cNvPr id="107" name="Google Shape;107;p14"/>
          <p:cNvSpPr txBox="1"/>
          <p:nvPr/>
        </p:nvSpPr>
        <p:spPr>
          <a:xfrm>
            <a:off x="667252" y="2407500"/>
            <a:ext cx="48072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2984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GB" sz="1100" dirty="0">
                <a:solidFill>
                  <a:srgbClr val="FFFFFF"/>
                </a:solidFill>
              </a:rPr>
              <a:t>Plot individual features (categorical + numerical) </a:t>
            </a:r>
            <a:endParaRPr sz="1100" dirty="0">
              <a:solidFill>
                <a:srgbClr val="FFFFFF"/>
              </a:solidFill>
            </a:endParaRPr>
          </a:p>
          <a:p>
            <a:pPr marL="457200" marR="0" lvl="0" indent="-2984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GB" sz="1100" dirty="0">
                <a:solidFill>
                  <a:srgbClr val="FFFFFF"/>
                </a:solidFill>
              </a:rPr>
              <a:t>Plot a pairplot of related features</a:t>
            </a:r>
            <a:endParaRPr sz="1100" dirty="0">
              <a:solidFill>
                <a:srgbClr val="FFFFFF"/>
              </a:solidFill>
            </a:endParaRPr>
          </a:p>
          <a:p>
            <a:pPr marL="457200" marR="0" lvl="0" indent="-2984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GB" sz="1100" dirty="0">
                <a:solidFill>
                  <a:srgbClr val="FFFFFF"/>
                </a:solidFill>
              </a:rPr>
              <a:t>Analyse relationships between features (visually)</a:t>
            </a:r>
            <a:endParaRPr sz="700" dirty="0"/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4">
            <a:alphaModFix/>
          </a:blip>
          <a:srcRect l="49359" b="45684"/>
          <a:stretch/>
        </p:blipFill>
        <p:spPr>
          <a:xfrm>
            <a:off x="6431305" y="1871238"/>
            <a:ext cx="2140245" cy="1279712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09" name="Google Shape;109;p14"/>
          <p:cNvGrpSpPr/>
          <p:nvPr/>
        </p:nvGrpSpPr>
        <p:grpSpPr>
          <a:xfrm>
            <a:off x="514350" y="3375025"/>
            <a:ext cx="5219957" cy="1403493"/>
            <a:chOff x="0" y="-47625"/>
            <a:chExt cx="1379700" cy="777300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 extrusionOk="0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0" y="-47625"/>
              <a:ext cx="1379700" cy="77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14"/>
          <p:cNvSpPr txBox="1"/>
          <p:nvPr/>
        </p:nvSpPr>
        <p:spPr>
          <a:xfrm>
            <a:off x="667256" y="3572091"/>
            <a:ext cx="344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600" b="1">
                <a:solidFill>
                  <a:srgbClr val="FFFFFF"/>
                </a:solidFill>
              </a:rPr>
              <a:t>Feature engineering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599000" y="3891660"/>
            <a:ext cx="5000866" cy="77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875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</a:pPr>
            <a:r>
              <a:rPr lang="en-SG" sz="1100" dirty="0">
                <a:solidFill>
                  <a:schemeClr val="lt1"/>
                </a:solidFill>
              </a:rPr>
              <a:t>Created 3 new features to further capture customer behaviour. </a:t>
            </a:r>
            <a:endParaRPr sz="1100" dirty="0">
              <a:solidFill>
                <a:schemeClr val="lt1"/>
              </a:solidFill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GB" sz="1100" i="1" dirty="0">
                <a:solidFill>
                  <a:schemeClr val="lt1"/>
                </a:solidFill>
              </a:rPr>
              <a:t>Income Spending Ratio</a:t>
            </a:r>
            <a:endParaRPr sz="1100" i="1" dirty="0">
              <a:solidFill>
                <a:schemeClr val="lt1"/>
              </a:solidFill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GB" sz="1100" i="1" dirty="0">
                <a:solidFill>
                  <a:schemeClr val="lt1"/>
                </a:solidFill>
              </a:rPr>
              <a:t>Income Category</a:t>
            </a:r>
            <a:r>
              <a:rPr lang="en-GB" sz="1100" dirty="0">
                <a:solidFill>
                  <a:schemeClr val="lt1"/>
                </a:solidFill>
              </a:rPr>
              <a:t> (Low, Med, High)</a:t>
            </a:r>
            <a:endParaRPr sz="1100" dirty="0">
              <a:solidFill>
                <a:schemeClr val="lt1"/>
              </a:solidFill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GB" sz="1100" i="1" dirty="0">
                <a:solidFill>
                  <a:schemeClr val="lt1"/>
                </a:solidFill>
              </a:rPr>
              <a:t>Spending Category</a:t>
            </a:r>
            <a:r>
              <a:rPr lang="en-GB" sz="1100" dirty="0">
                <a:solidFill>
                  <a:schemeClr val="lt1"/>
                </a:solidFill>
              </a:rPr>
              <a:t> (Low, Med, High)</a:t>
            </a:r>
            <a:endParaRPr sz="1100" dirty="0">
              <a:solidFill>
                <a:schemeClr val="lt1"/>
              </a:solidFill>
            </a:endParaRPr>
          </a:p>
        </p:txBody>
      </p:sp>
      <p:pic>
        <p:nvPicPr>
          <p:cNvPr id="114" name="Google Shape;11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2523" y="263475"/>
            <a:ext cx="2857802" cy="16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9857" y="3150938"/>
            <a:ext cx="2983133" cy="14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 rot="-9227482" flipH="1">
            <a:off x="-5674550" y="-2342470"/>
            <a:ext cx="16324914" cy="14488078"/>
          </a:xfrm>
          <a:custGeom>
            <a:avLst/>
            <a:gdLst/>
            <a:ahLst/>
            <a:cxnLst/>
            <a:rect l="l" t="t" r="r" b="b"/>
            <a:pathLst>
              <a:path w="22707876" h="18563688" extrusionOk="0">
                <a:moveTo>
                  <a:pt x="22707875" y="0"/>
                </a:moveTo>
                <a:lnTo>
                  <a:pt x="0" y="0"/>
                </a:lnTo>
                <a:lnTo>
                  <a:pt x="0" y="18563688"/>
                </a:lnTo>
                <a:lnTo>
                  <a:pt x="22707875" y="18563688"/>
                </a:lnTo>
                <a:lnTo>
                  <a:pt x="2270787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1" name="Google Shape;121;p15"/>
          <p:cNvSpPr/>
          <p:nvPr/>
        </p:nvSpPr>
        <p:spPr>
          <a:xfrm>
            <a:off x="542700" y="1580900"/>
            <a:ext cx="4029300" cy="1635900"/>
          </a:xfrm>
          <a:prstGeom prst="roundRect">
            <a:avLst>
              <a:gd name="adj" fmla="val 10465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42700" y="166861"/>
            <a:ext cx="4029300" cy="1214739"/>
          </a:xfrm>
          <a:prstGeom prst="roundRect">
            <a:avLst>
              <a:gd name="adj" fmla="val 10465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759224" y="227462"/>
            <a:ext cx="34482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Finding Optimal K for model</a:t>
            </a:r>
            <a:endParaRPr sz="700"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641812" y="547550"/>
            <a:ext cx="3448200" cy="77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 dirty="0">
                <a:solidFill>
                  <a:schemeClr val="lt1"/>
                </a:solidFill>
              </a:rPr>
              <a:t>Used Elbow Method and Silhouette Score to balance compactness and separation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 dirty="0">
                <a:solidFill>
                  <a:schemeClr val="lt1"/>
                </a:solidFill>
              </a:rPr>
              <a:t> k = 7 provided the best balance between cluster tendency and interpretability</a:t>
            </a:r>
            <a:endParaRPr sz="1100" dirty="0">
              <a:solidFill>
                <a:schemeClr val="lt1"/>
              </a:solidFill>
            </a:endParaRPr>
          </a:p>
        </p:txBody>
      </p:sp>
      <p:pic>
        <p:nvPicPr>
          <p:cNvPr id="125" name="Google Shape;12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0926" y="370600"/>
            <a:ext cx="3293850" cy="2680901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6" name="Google Shape;126;p15"/>
          <p:cNvSpPr txBox="1"/>
          <p:nvPr/>
        </p:nvSpPr>
        <p:spPr>
          <a:xfrm>
            <a:off x="763807" y="1659496"/>
            <a:ext cx="344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Model Testing and Evaluation</a:t>
            </a:r>
            <a:endParaRPr sz="700"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763845" y="1984392"/>
            <a:ext cx="3448200" cy="11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 dirty="0">
                <a:solidFill>
                  <a:schemeClr val="lt1"/>
                </a:solidFill>
              </a:rPr>
              <a:t>Tested on </a:t>
            </a:r>
            <a:r>
              <a:rPr lang="en-GB" sz="1100" dirty="0" err="1">
                <a:solidFill>
                  <a:schemeClr val="lt1"/>
                </a:solidFill>
              </a:rPr>
              <a:t>KMeans</a:t>
            </a:r>
            <a:r>
              <a:rPr lang="en-GB" sz="1100" dirty="0">
                <a:solidFill>
                  <a:schemeClr val="lt1"/>
                </a:solidFill>
              </a:rPr>
              <a:t>, Hierarchical and GMM.</a:t>
            </a:r>
          </a:p>
          <a:p>
            <a:pPr marL="158750"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</a:pPr>
            <a:r>
              <a:rPr lang="en-GB" sz="1100" dirty="0">
                <a:solidFill>
                  <a:schemeClr val="lt1"/>
                </a:solidFill>
              </a:rPr>
              <a:t>Models were evaluated based on:</a:t>
            </a:r>
            <a:endParaRPr sz="1100" dirty="0">
              <a:solidFill>
                <a:schemeClr val="l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 dirty="0">
                <a:solidFill>
                  <a:schemeClr val="lt1"/>
                </a:solidFill>
              </a:rPr>
              <a:t>Silhouette Score, Davies-Bouldin Score, </a:t>
            </a:r>
            <a:r>
              <a:rPr lang="en-GB" sz="1100" dirty="0" err="1">
                <a:solidFill>
                  <a:schemeClr val="lt1"/>
                </a:solidFill>
              </a:rPr>
              <a:t>Calinski-Harabasz</a:t>
            </a:r>
            <a:r>
              <a:rPr lang="en-GB" sz="1100" dirty="0">
                <a:solidFill>
                  <a:schemeClr val="lt1"/>
                </a:solidFill>
              </a:rPr>
              <a:t> Score</a:t>
            </a:r>
            <a:endParaRPr sz="1100" dirty="0">
              <a:solidFill>
                <a:schemeClr val="l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 dirty="0">
                <a:solidFill>
                  <a:schemeClr val="lt1"/>
                </a:solidFill>
              </a:rPr>
              <a:t>K-Means Clustering showed most consistent separation and stability.</a:t>
            </a:r>
            <a:endParaRPr sz="1100" dirty="0">
              <a:solidFill>
                <a:schemeClr val="lt1"/>
              </a:solidFill>
            </a:endParaRPr>
          </a:p>
        </p:txBody>
      </p:sp>
      <p:pic>
        <p:nvPicPr>
          <p:cNvPr id="128" name="Google Shape;128;p15"/>
          <p:cNvPicPr preferRelativeResize="0"/>
          <p:nvPr/>
        </p:nvPicPr>
        <p:blipFill rotWithShape="1">
          <a:blip r:embed="rId5">
            <a:alphaModFix/>
          </a:blip>
          <a:srcRect r="33989"/>
          <a:stretch/>
        </p:blipFill>
        <p:spPr>
          <a:xfrm>
            <a:off x="352438" y="3368644"/>
            <a:ext cx="3737574" cy="1532925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9" name="Google Shape;12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9750" y="3128213"/>
            <a:ext cx="5244251" cy="19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-3071624" y="734311"/>
            <a:ext cx="7793777" cy="7152903"/>
          </a:xfrm>
          <a:custGeom>
            <a:avLst/>
            <a:gdLst/>
            <a:ahLst/>
            <a:cxnLst/>
            <a:rect l="l" t="t" r="r" b="b"/>
            <a:pathLst>
              <a:path w="10900388" h="10110110" extrusionOk="0">
                <a:moveTo>
                  <a:pt x="0" y="0"/>
                </a:moveTo>
                <a:lnTo>
                  <a:pt x="10900388" y="0"/>
                </a:lnTo>
                <a:lnTo>
                  <a:pt x="10900388" y="10110110"/>
                </a:lnTo>
                <a:lnTo>
                  <a:pt x="0" y="10110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5" name="Google Shape;135;p16"/>
          <p:cNvSpPr txBox="1"/>
          <p:nvPr/>
        </p:nvSpPr>
        <p:spPr>
          <a:xfrm>
            <a:off x="514350" y="136720"/>
            <a:ext cx="514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rgbClr val="FFFFFF"/>
                </a:solidFill>
              </a:rPr>
              <a:t>Cluster Analysis</a:t>
            </a:r>
            <a:endParaRPr sz="700"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169948" y="882539"/>
            <a:ext cx="5145299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GB" sz="1100" dirty="0">
                <a:solidFill>
                  <a:srgbClr val="FFFFFF"/>
                </a:solidFill>
              </a:rPr>
              <a:t>Visualized clusters based on a comparison of features (</a:t>
            </a:r>
            <a:r>
              <a:rPr lang="en-GB" sz="1100" i="1" dirty="0">
                <a:solidFill>
                  <a:srgbClr val="FFFFFF"/>
                </a:solidFill>
              </a:rPr>
              <a:t>Income</a:t>
            </a:r>
            <a:r>
              <a:rPr lang="en-GB" sz="1100" dirty="0">
                <a:solidFill>
                  <a:srgbClr val="FFFFFF"/>
                </a:solidFill>
              </a:rPr>
              <a:t> vs </a:t>
            </a:r>
            <a:r>
              <a:rPr lang="en-GB" sz="1100" i="1" dirty="0">
                <a:solidFill>
                  <a:srgbClr val="FFFFFF"/>
                </a:solidFill>
              </a:rPr>
              <a:t>Spending</a:t>
            </a:r>
            <a:r>
              <a:rPr lang="en-GB" sz="1100" dirty="0">
                <a:solidFill>
                  <a:srgbClr val="FFFFFF"/>
                </a:solidFill>
              </a:rPr>
              <a:t>, </a:t>
            </a:r>
            <a:r>
              <a:rPr lang="en-GB" sz="1100" i="1" dirty="0">
                <a:solidFill>
                  <a:srgbClr val="FFFFFF"/>
                </a:solidFill>
              </a:rPr>
              <a:t>Age</a:t>
            </a:r>
            <a:r>
              <a:rPr lang="en-GB" sz="1100" dirty="0">
                <a:solidFill>
                  <a:srgbClr val="FFFFFF"/>
                </a:solidFill>
              </a:rPr>
              <a:t> vs </a:t>
            </a:r>
            <a:r>
              <a:rPr lang="en-GB" sz="1100" i="1" dirty="0">
                <a:solidFill>
                  <a:srgbClr val="FFFFFF"/>
                </a:solidFill>
              </a:rPr>
              <a:t>Spending</a:t>
            </a:r>
            <a:r>
              <a:rPr lang="en-GB" sz="1100" dirty="0">
                <a:solidFill>
                  <a:srgbClr val="FFFFFF"/>
                </a:solidFill>
              </a:rPr>
              <a:t>, </a:t>
            </a:r>
            <a:r>
              <a:rPr lang="en-GB" sz="1100" i="1" dirty="0">
                <a:solidFill>
                  <a:srgbClr val="FFFFFF"/>
                </a:solidFill>
              </a:rPr>
              <a:t>Age</a:t>
            </a:r>
            <a:r>
              <a:rPr lang="en-GB" sz="1100" dirty="0">
                <a:solidFill>
                  <a:srgbClr val="FFFFFF"/>
                </a:solidFill>
              </a:rPr>
              <a:t> vs </a:t>
            </a:r>
            <a:r>
              <a:rPr lang="en-GB" sz="1100" i="1" dirty="0">
                <a:solidFill>
                  <a:srgbClr val="FFFFFF"/>
                </a:solidFill>
              </a:rPr>
              <a:t>Income</a:t>
            </a:r>
            <a:r>
              <a:rPr lang="en-GB" sz="1100" dirty="0">
                <a:solidFill>
                  <a:srgbClr val="FFFFFF"/>
                </a:solidFill>
              </a:rPr>
              <a:t>)</a:t>
            </a:r>
            <a:endParaRPr sz="1100" dirty="0">
              <a:solidFill>
                <a:srgbClr val="FFFFFF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GB" sz="1100" dirty="0">
                <a:solidFill>
                  <a:srgbClr val="FFFFFF"/>
                </a:solidFill>
              </a:rPr>
              <a:t>Visualized clusters within a 3-dimensional space using a 3D scatterplot</a:t>
            </a:r>
            <a:endParaRPr sz="1100" dirty="0">
              <a:solidFill>
                <a:srgbClr val="FFFFFF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GB" sz="1100" dirty="0">
                <a:solidFill>
                  <a:srgbClr val="FFFFFF"/>
                </a:solidFill>
              </a:rPr>
              <a:t>Analysed cluster sizes, percentages, and cluster metrics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endParaRPr lang="en-GB" sz="1100" dirty="0">
              <a:solidFill>
                <a:srgbClr val="FFFFFF"/>
              </a:solidFill>
            </a:endParaRPr>
          </a:p>
          <a:p>
            <a:pPr marL="15875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</a:pPr>
            <a:r>
              <a:rPr lang="en-US" sz="1100" dirty="0">
                <a:solidFill>
                  <a:srgbClr val="FFFFFF"/>
                </a:solidFill>
              </a:rPr>
              <a:t>The analysis revealed distinct customer groups with different age, income, and spending patterns.</a:t>
            </a:r>
            <a:endParaRPr sz="700" dirty="0"/>
          </a:p>
        </p:txBody>
      </p:sp>
      <p:pic>
        <p:nvPicPr>
          <p:cNvPr id="137" name="Google Shape;13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5199" y="2087381"/>
            <a:ext cx="3168500" cy="2735815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8" name="Google Shape;13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749" y="2323065"/>
            <a:ext cx="3746250" cy="2500131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9" name="Google Shape;13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5199" y="136720"/>
            <a:ext cx="3292650" cy="183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2350001" y="-1445377"/>
            <a:ext cx="8066287" cy="7001251"/>
          </a:xfrm>
          <a:custGeom>
            <a:avLst/>
            <a:gdLst/>
            <a:ahLst/>
            <a:cxnLst/>
            <a:rect l="l" t="t" r="r" b="b"/>
            <a:pathLst>
              <a:path w="10900388" h="10110110" extrusionOk="0">
                <a:moveTo>
                  <a:pt x="0" y="0"/>
                </a:moveTo>
                <a:lnTo>
                  <a:pt x="10900388" y="0"/>
                </a:lnTo>
                <a:lnTo>
                  <a:pt x="10900388" y="10110110"/>
                </a:lnTo>
                <a:lnTo>
                  <a:pt x="0" y="10110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5" name="Google Shape;145;p17"/>
          <p:cNvSpPr txBox="1"/>
          <p:nvPr/>
        </p:nvSpPr>
        <p:spPr>
          <a:xfrm>
            <a:off x="334140" y="217856"/>
            <a:ext cx="514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rgbClr val="FFFFFF"/>
                </a:solidFill>
              </a:rPr>
              <a:t>Insights and Conclusions</a:t>
            </a:r>
            <a:endParaRPr sz="7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334140" y="910956"/>
            <a:ext cx="5014800" cy="18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 dirty="0">
                <a:solidFill>
                  <a:srgbClr val="FFFFFF"/>
                </a:solidFill>
              </a:rPr>
              <a:t>Used a spider chart to showcase the different quadrants that clusters fall into.</a:t>
            </a:r>
            <a:endParaRPr sz="1100" dirty="0">
              <a:solidFill>
                <a:srgbClr val="FFFFFF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 dirty="0">
                <a:solidFill>
                  <a:srgbClr val="FFFFFF"/>
                </a:solidFill>
              </a:rPr>
              <a:t>We then used the chart to form conclusions on the type of customers and groups within our dataset.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GB" sz="1100" dirty="0">
              <a:solidFill>
                <a:srgbClr val="FFFFFF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 b="1" dirty="0">
                <a:solidFill>
                  <a:srgbClr val="FFFFFF"/>
                </a:solidFill>
              </a:rPr>
              <a:t>Conclusion</a:t>
            </a:r>
            <a:r>
              <a:rPr lang="en-GB" sz="1100" dirty="0">
                <a:solidFill>
                  <a:srgbClr val="FFFFFF"/>
                </a:solidFill>
              </a:rPr>
              <a:t>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dirty="0">
                <a:solidFill>
                  <a:srgbClr val="FFFFFF"/>
                </a:solidFill>
              </a:rPr>
              <a:t>High-income, high-spending customers were identified as key target groups because they contribute most to revenue, while low-income but high-spending customers may need retention strategies to prevent churn.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 dirty="0">
                <a:solidFill>
                  <a:srgbClr val="FFFFFF"/>
                </a:solidFill>
              </a:rPr>
              <a:t> </a:t>
            </a:r>
            <a:endParaRPr sz="1100" dirty="0">
              <a:solidFill>
                <a:srgbClr val="FFFFFF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dirty="0">
              <a:solidFill>
                <a:srgbClr val="FFFFFF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700" dirty="0"/>
          </a:p>
        </p:txBody>
      </p:sp>
      <p:pic>
        <p:nvPicPr>
          <p:cNvPr id="147" name="Google Shape;14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226" y="2498337"/>
            <a:ext cx="4802299" cy="2427307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8" name="Google Shape;14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3237" y="160544"/>
            <a:ext cx="3679951" cy="4424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1924452" y="-2569175"/>
            <a:ext cx="13512158" cy="10160559"/>
          </a:xfrm>
          <a:custGeom>
            <a:avLst/>
            <a:gdLst/>
            <a:ahLst/>
            <a:cxnLst/>
            <a:rect l="l" t="t" r="r" b="b"/>
            <a:pathLst>
              <a:path w="20787936" h="17747701" extrusionOk="0">
                <a:moveTo>
                  <a:pt x="0" y="0"/>
                </a:moveTo>
                <a:lnTo>
                  <a:pt x="20787936" y="0"/>
                </a:lnTo>
                <a:lnTo>
                  <a:pt x="20787936" y="17747700"/>
                </a:lnTo>
                <a:lnTo>
                  <a:pt x="0" y="177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SG"/>
          </a:p>
        </p:txBody>
      </p:sp>
      <p:grpSp>
        <p:nvGrpSpPr>
          <p:cNvPr id="154" name="Google Shape;154;p18"/>
          <p:cNvGrpSpPr/>
          <p:nvPr/>
        </p:nvGrpSpPr>
        <p:grpSpPr>
          <a:xfrm>
            <a:off x="124440" y="253629"/>
            <a:ext cx="4280539" cy="1920618"/>
            <a:chOff x="0" y="-47625"/>
            <a:chExt cx="1379700" cy="777300"/>
          </a:xfrm>
        </p:grpSpPr>
        <p:sp>
          <p:nvSpPr>
            <p:cNvPr id="155" name="Google Shape;155;p18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 extrusionOk="0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0" y="-47625"/>
              <a:ext cx="1379700" cy="77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18"/>
          <p:cNvSpPr txBox="1"/>
          <p:nvPr/>
        </p:nvSpPr>
        <p:spPr>
          <a:xfrm>
            <a:off x="278194" y="525775"/>
            <a:ext cx="3584699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Data Preparation/ EDA (Time Series) </a:t>
            </a:r>
            <a:endParaRPr sz="700"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164171" y="927844"/>
            <a:ext cx="4134176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Loaded and inspected data using </a:t>
            </a:r>
            <a:r>
              <a:rPr lang="en-US" sz="1000" i="1" dirty="0">
                <a:solidFill>
                  <a:schemeClr val="lt1"/>
                </a:solidFill>
              </a:rPr>
              <a:t>df.info() </a:t>
            </a:r>
            <a:r>
              <a:rPr lang="en-US" sz="1000" dirty="0">
                <a:solidFill>
                  <a:schemeClr val="lt1"/>
                </a:solidFill>
              </a:rPr>
              <a:t>and </a:t>
            </a:r>
            <a:r>
              <a:rPr lang="en-US" sz="1000" i="1" dirty="0" err="1">
                <a:solidFill>
                  <a:schemeClr val="lt1"/>
                </a:solidFill>
              </a:rPr>
              <a:t>df.describe</a:t>
            </a:r>
            <a:r>
              <a:rPr lang="en-US" sz="1000" i="1" dirty="0">
                <a:solidFill>
                  <a:schemeClr val="lt1"/>
                </a:solidFill>
              </a:rPr>
              <a:t>()</a:t>
            </a:r>
          </a:p>
          <a:p>
            <a:pPr marL="457200" lvl="0" indent="-2921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Converted date column to datetime format using </a:t>
            </a:r>
            <a:r>
              <a:rPr lang="en-US" sz="1000" i="1" dirty="0" err="1">
                <a:solidFill>
                  <a:schemeClr val="lt1"/>
                </a:solidFill>
              </a:rPr>
              <a:t>pd.to_datetime</a:t>
            </a:r>
            <a:r>
              <a:rPr lang="en-US" sz="1000" i="1" dirty="0">
                <a:solidFill>
                  <a:schemeClr val="lt1"/>
                </a:solidFill>
              </a:rPr>
              <a:t>()</a:t>
            </a:r>
          </a:p>
          <a:p>
            <a:pPr marL="457200" lvl="0" indent="-2921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Checked for duplicate values and Missing values</a:t>
            </a:r>
          </a:p>
          <a:p>
            <a:pPr marL="457200" lvl="0" indent="-2921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Visualized individual features</a:t>
            </a:r>
          </a:p>
          <a:p>
            <a:pPr marL="457200" lvl="0" indent="-2921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Compared trends across all three features over time</a:t>
            </a:r>
          </a:p>
        </p:txBody>
      </p:sp>
      <p:sp>
        <p:nvSpPr>
          <p:cNvPr id="159" name="Google Shape;159;p18"/>
          <p:cNvSpPr txBox="1"/>
          <p:nvPr/>
        </p:nvSpPr>
        <p:spPr>
          <a:xfrm>
            <a:off x="735620" y="2560816"/>
            <a:ext cx="344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600" b="1">
              <a:solidFill>
                <a:srgbClr val="FFFFFF"/>
              </a:solidFill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4">
            <a:alphaModFix/>
          </a:blip>
          <a:srcRect b="68688"/>
          <a:stretch/>
        </p:blipFill>
        <p:spPr>
          <a:xfrm>
            <a:off x="4572000" y="525775"/>
            <a:ext cx="4293805" cy="955924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1" name="Google Shape;16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440" y="2342271"/>
            <a:ext cx="4280198" cy="2429924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2" name="Google Shape;162;p18"/>
          <p:cNvPicPr preferRelativeResize="0"/>
          <p:nvPr/>
        </p:nvPicPr>
        <p:blipFill rotWithShape="1">
          <a:blip r:embed="rId4">
            <a:alphaModFix/>
          </a:blip>
          <a:srcRect t="30903" b="36315"/>
          <a:stretch/>
        </p:blipFill>
        <p:spPr>
          <a:xfrm>
            <a:off x="4572000" y="2057075"/>
            <a:ext cx="4280539" cy="9977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t="63279"/>
          <a:stretch/>
        </p:blipFill>
        <p:spPr>
          <a:xfrm>
            <a:off x="4572000" y="3552284"/>
            <a:ext cx="4293801" cy="1121017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 rot="3196841">
            <a:off x="-2215931" y="1057246"/>
            <a:ext cx="8295224" cy="7385442"/>
          </a:xfrm>
          <a:custGeom>
            <a:avLst/>
            <a:gdLst/>
            <a:ahLst/>
            <a:cxnLst/>
            <a:rect l="l" t="t" r="r" b="b"/>
            <a:pathLst>
              <a:path w="10900388" h="10110110" extrusionOk="0">
                <a:moveTo>
                  <a:pt x="0" y="0"/>
                </a:moveTo>
                <a:lnTo>
                  <a:pt x="10900388" y="0"/>
                </a:lnTo>
                <a:lnTo>
                  <a:pt x="10900388" y="10110110"/>
                </a:lnTo>
                <a:lnTo>
                  <a:pt x="0" y="10110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9" name="Google Shape;169;p19"/>
          <p:cNvSpPr txBox="1"/>
          <p:nvPr/>
        </p:nvSpPr>
        <p:spPr>
          <a:xfrm>
            <a:off x="500009" y="276704"/>
            <a:ext cx="687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3600" dirty="0">
                <a:solidFill>
                  <a:srgbClr val="FFFFFF"/>
                </a:solidFill>
              </a:rPr>
              <a:t>Time Series Decomposition</a:t>
            </a:r>
            <a:endParaRPr sz="3600" dirty="0">
              <a:solidFill>
                <a:srgbClr val="FFFFFF"/>
              </a:solidFill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70808" y="1139879"/>
            <a:ext cx="4243425" cy="1530305"/>
          </a:xfrm>
          <a:custGeom>
            <a:avLst/>
            <a:gdLst/>
            <a:ahLst/>
            <a:cxnLst/>
            <a:rect l="l" t="t" r="r" b="b"/>
            <a:pathLst>
              <a:path w="1379590" h="729585" extrusionOk="0">
                <a:moveTo>
                  <a:pt x="50745" y="0"/>
                </a:moveTo>
                <a:lnTo>
                  <a:pt x="1328845" y="0"/>
                </a:lnTo>
                <a:cubicBezTo>
                  <a:pt x="1356871" y="0"/>
                  <a:pt x="1379590" y="22719"/>
                  <a:pt x="1379590" y="50745"/>
                </a:cubicBezTo>
                <a:lnTo>
                  <a:pt x="1379590" y="678840"/>
                </a:lnTo>
                <a:cubicBezTo>
                  <a:pt x="1379590" y="706866"/>
                  <a:pt x="1356871" y="729585"/>
                  <a:pt x="1328845" y="729585"/>
                </a:cubicBezTo>
                <a:lnTo>
                  <a:pt x="50745" y="729585"/>
                </a:lnTo>
                <a:cubicBezTo>
                  <a:pt x="22719" y="729585"/>
                  <a:pt x="0" y="706866"/>
                  <a:pt x="0" y="678840"/>
                </a:cubicBezTo>
                <a:lnTo>
                  <a:pt x="0" y="50745"/>
                </a:lnTo>
                <a:cubicBezTo>
                  <a:pt x="0" y="22719"/>
                  <a:pt x="22719" y="0"/>
                  <a:pt x="50745" y="0"/>
                </a:cubicBezTo>
                <a:close/>
              </a:path>
            </a:pathLst>
          </a:custGeom>
          <a:noFill/>
          <a:ln w="93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4625" tIns="44625" rIns="44625" bIns="44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328574" y="1355669"/>
            <a:ext cx="4243426" cy="1291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US" sz="1100" dirty="0">
                <a:solidFill>
                  <a:srgbClr val="FFFFFF"/>
                </a:solidFill>
              </a:rPr>
              <a:t>Decomposed series into trend, seasonality, and residuals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GB" sz="1100" dirty="0">
                <a:solidFill>
                  <a:srgbClr val="FFFFFF"/>
                </a:solidFill>
              </a:rPr>
              <a:t>Perform a stationary test on each feature.</a:t>
            </a:r>
            <a:endParaRPr sz="11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GB" sz="1100" dirty="0">
                <a:solidFill>
                  <a:srgbClr val="FFFFFF"/>
                </a:solidFill>
              </a:rPr>
              <a:t>For stationary test, used ADF (augmented dickey fuller) test.</a:t>
            </a:r>
            <a:endParaRPr sz="1100" dirty="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GB" sz="1100" dirty="0">
                <a:solidFill>
                  <a:srgbClr val="FFFFFF"/>
                </a:solidFill>
              </a:rPr>
              <a:t>If p &lt; 0.05, H0 is rejected, hence series is stationary.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US" sz="1100" dirty="0">
                <a:solidFill>
                  <a:srgbClr val="FFFFFF"/>
                </a:solidFill>
              </a:rPr>
              <a:t>ADF tests confirmed non-stationarity, so models that handle trend and seasonality were used.</a:t>
            </a:r>
            <a:endParaRPr sz="1100" dirty="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700" dirty="0"/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9387" y="1118934"/>
            <a:ext cx="4146515" cy="3312902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3" name="Google Shape;17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57023" y="3488558"/>
            <a:ext cx="3144544" cy="17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6575" y="3488559"/>
            <a:ext cx="3144521" cy="17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292" y="2332468"/>
            <a:ext cx="3464500" cy="1941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514225" y="398725"/>
            <a:ext cx="4029300" cy="1742400"/>
          </a:xfrm>
          <a:prstGeom prst="roundRect">
            <a:avLst>
              <a:gd name="adj" fmla="val 10465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924452" y="-2569175"/>
            <a:ext cx="13512158" cy="10160559"/>
          </a:xfrm>
          <a:custGeom>
            <a:avLst/>
            <a:gdLst/>
            <a:ahLst/>
            <a:cxnLst/>
            <a:rect l="l" t="t" r="r" b="b"/>
            <a:pathLst>
              <a:path w="20787936" h="17747701" extrusionOk="0">
                <a:moveTo>
                  <a:pt x="0" y="0"/>
                </a:moveTo>
                <a:lnTo>
                  <a:pt x="20787936" y="0"/>
                </a:lnTo>
                <a:lnTo>
                  <a:pt x="20787936" y="17747700"/>
                </a:lnTo>
                <a:lnTo>
                  <a:pt x="0" y="177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2" name="Google Shape;182;p20"/>
          <p:cNvSpPr txBox="1"/>
          <p:nvPr/>
        </p:nvSpPr>
        <p:spPr>
          <a:xfrm>
            <a:off x="735506" y="520225"/>
            <a:ext cx="344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</a:rPr>
              <a:t>Train_val_test split</a:t>
            </a:r>
            <a:endParaRPr sz="700"/>
          </a:p>
        </p:txBody>
      </p:sp>
      <p:sp>
        <p:nvSpPr>
          <p:cNvPr id="183" name="Google Shape;183;p20"/>
          <p:cNvSpPr txBox="1"/>
          <p:nvPr/>
        </p:nvSpPr>
        <p:spPr>
          <a:xfrm>
            <a:off x="599000" y="887647"/>
            <a:ext cx="358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>
                <a:solidFill>
                  <a:schemeClr val="lt1"/>
                </a:solidFill>
              </a:rPr>
              <a:t>Split using </a:t>
            </a:r>
            <a:r>
              <a:rPr lang="en-GB" sz="1000" i="1">
                <a:solidFill>
                  <a:schemeClr val="lt1"/>
                </a:solidFill>
              </a:rPr>
              <a:t>df.iloc()</a:t>
            </a:r>
            <a:r>
              <a:rPr lang="en-GB" sz="1000">
                <a:solidFill>
                  <a:schemeClr val="lt1"/>
                </a:solidFill>
              </a:rPr>
              <a:t> to specify train, val and test size</a:t>
            </a:r>
            <a:endParaRPr sz="1000">
              <a:solidFill>
                <a:schemeClr val="lt1"/>
              </a:solidFill>
            </a:endParaRPr>
          </a:p>
          <a:p>
            <a:pPr marL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735620" y="2560816"/>
            <a:ext cx="344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14225" y="2407925"/>
            <a:ext cx="4029300" cy="2415600"/>
          </a:xfrm>
          <a:prstGeom prst="roundRect">
            <a:avLst>
              <a:gd name="adj" fmla="val 10465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67244" y="3347581"/>
            <a:ext cx="344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</a:rPr>
              <a:t>Model Weakness</a:t>
            </a:r>
            <a:endParaRPr sz="700"/>
          </a:p>
        </p:txBody>
      </p:sp>
      <p:sp>
        <p:nvSpPr>
          <p:cNvPr id="187" name="Google Shape;187;p20"/>
          <p:cNvSpPr txBox="1"/>
          <p:nvPr/>
        </p:nvSpPr>
        <p:spPr>
          <a:xfrm>
            <a:off x="673924" y="3665000"/>
            <a:ext cx="3318000" cy="77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 dirty="0">
                <a:solidFill>
                  <a:schemeClr val="lt1"/>
                </a:solidFill>
              </a:rPr>
              <a:t>Initial models showed high MAPE due to unmodeled trend and seasonality</a:t>
            </a:r>
          </a:p>
          <a:p>
            <a: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 dirty="0">
                <a:solidFill>
                  <a:schemeClr val="lt1"/>
                </a:solidFill>
              </a:rPr>
              <a:t> Hyperparameter tuning (trend, seasonal, damped trend) was applied to improve fit</a:t>
            </a:r>
            <a:endParaRPr sz="1100" dirty="0">
              <a:solidFill>
                <a:schemeClr val="lt1"/>
              </a:solidFill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98081" y="1137425"/>
            <a:ext cx="344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</a:rPr>
              <a:t>Baseline Model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29825" y="1439025"/>
            <a:ext cx="3850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 dirty="0">
                <a:solidFill>
                  <a:schemeClr val="lt1"/>
                </a:solidFill>
              </a:rPr>
              <a:t>Used Simple Exponential Smoothing as my baseline model</a:t>
            </a:r>
            <a:endParaRPr sz="1000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 dirty="0">
                <a:solidFill>
                  <a:schemeClr val="lt1"/>
                </a:solidFill>
              </a:rPr>
              <a:t>No trend, No seasonality</a:t>
            </a:r>
            <a:endParaRPr sz="1000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 dirty="0">
                <a:solidFill>
                  <a:schemeClr val="lt1"/>
                </a:solidFill>
              </a:rPr>
              <a:t>Train Model on Training set, evaluate on validation set</a:t>
            </a:r>
            <a:endParaRPr sz="1000" dirty="0">
              <a:solidFill>
                <a:schemeClr val="lt1"/>
              </a:solidFill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3125" y="292375"/>
            <a:ext cx="3850801" cy="155983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698069" y="2560818"/>
            <a:ext cx="344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</a:rPr>
              <a:t>Error Metrics</a:t>
            </a:r>
            <a:endParaRPr sz="700"/>
          </a:p>
        </p:txBody>
      </p:sp>
      <p:sp>
        <p:nvSpPr>
          <p:cNvPr id="192" name="Google Shape;192;p20"/>
          <p:cNvSpPr txBox="1"/>
          <p:nvPr/>
        </p:nvSpPr>
        <p:spPr>
          <a:xfrm>
            <a:off x="698075" y="2838575"/>
            <a:ext cx="38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>
                <a:solidFill>
                  <a:schemeClr val="lt1"/>
                </a:solidFill>
              </a:rPr>
              <a:t>Used MSE (Mean Squared Error), MAE (Mean Absolute Error), and MAPE (Mean Absolute Percentage Error).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3825" y="1650700"/>
            <a:ext cx="5074002" cy="1449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5450" y="2641450"/>
            <a:ext cx="5150351" cy="128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7">
            <a:alphaModFix/>
          </a:blip>
          <a:srcRect l="46689" t="68211"/>
          <a:stretch/>
        </p:blipFill>
        <p:spPr>
          <a:xfrm>
            <a:off x="4899988" y="3749475"/>
            <a:ext cx="3763927" cy="12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/>
          <p:nvPr/>
        </p:nvSpPr>
        <p:spPr>
          <a:xfrm>
            <a:off x="658334" y="250239"/>
            <a:ext cx="4029300" cy="1589954"/>
          </a:xfrm>
          <a:prstGeom prst="roundRect">
            <a:avLst>
              <a:gd name="adj" fmla="val 10465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2037917" y="-2508530"/>
            <a:ext cx="13512158" cy="10160559"/>
          </a:xfrm>
          <a:custGeom>
            <a:avLst/>
            <a:gdLst/>
            <a:ahLst/>
            <a:cxnLst/>
            <a:rect l="l" t="t" r="r" b="b"/>
            <a:pathLst>
              <a:path w="20787936" h="17747701" extrusionOk="0">
                <a:moveTo>
                  <a:pt x="0" y="0"/>
                </a:moveTo>
                <a:lnTo>
                  <a:pt x="20787936" y="0"/>
                </a:lnTo>
                <a:lnTo>
                  <a:pt x="20787936" y="17747700"/>
                </a:lnTo>
                <a:lnTo>
                  <a:pt x="0" y="177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2" name="Google Shape;202;p21"/>
          <p:cNvSpPr txBox="1"/>
          <p:nvPr/>
        </p:nvSpPr>
        <p:spPr>
          <a:xfrm>
            <a:off x="855646" y="330817"/>
            <a:ext cx="344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</a:rPr>
              <a:t>Model Effectiveness</a:t>
            </a:r>
            <a:endParaRPr sz="700" dirty="0"/>
          </a:p>
        </p:txBody>
      </p:sp>
      <p:sp>
        <p:nvSpPr>
          <p:cNvPr id="203" name="Google Shape;203;p21"/>
          <p:cNvSpPr txBox="1"/>
          <p:nvPr/>
        </p:nvSpPr>
        <p:spPr>
          <a:xfrm>
            <a:off x="735506" y="722692"/>
            <a:ext cx="3584700" cy="884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 dirty="0">
                <a:solidFill>
                  <a:schemeClr val="lt1"/>
                </a:solidFill>
              </a:rPr>
              <a:t>Analysed effectiveness of model by comparing validation MAPE to test MAPE</a:t>
            </a:r>
            <a:endParaRPr sz="1000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Validation MAPE decreased across all features, with electricity showing the largest relative improvement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 However, this did not fully generalize to test data</a:t>
            </a:r>
            <a:endParaRPr sz="1000" dirty="0">
              <a:solidFill>
                <a:schemeClr val="lt1"/>
              </a:solidFill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14225" y="1971950"/>
            <a:ext cx="4244660" cy="1865400"/>
          </a:xfrm>
          <a:prstGeom prst="roundRect">
            <a:avLst>
              <a:gd name="adj" fmla="val 10465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6212" y="3408726"/>
            <a:ext cx="3145101" cy="15513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6138" y="1788613"/>
            <a:ext cx="3145250" cy="13933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71840" y="131910"/>
            <a:ext cx="3213826" cy="1429927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8" name="Google Shape;208;p21"/>
          <p:cNvSpPr txBox="1"/>
          <p:nvPr/>
        </p:nvSpPr>
        <p:spPr>
          <a:xfrm>
            <a:off x="735506" y="2117525"/>
            <a:ext cx="344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</a:rPr>
              <a:t>Model Forecasting (60 Months)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702975" y="2460722"/>
            <a:ext cx="3995840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 dirty="0">
                <a:solidFill>
                  <a:schemeClr val="lt1"/>
                </a:solidFill>
              </a:rPr>
              <a:t>Forecasted 60 months ahead from the date of dataset using tuned model per feature.</a:t>
            </a:r>
            <a:endParaRPr sz="1000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 dirty="0">
                <a:solidFill>
                  <a:schemeClr val="lt1"/>
                </a:solidFill>
              </a:rPr>
              <a:t>Compared validation MAPE to 60-month forecast MAPE.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Electricity: test MAPE increased significantly, indicating poor generalization.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US" sz="1000" dirty="0">
                <a:solidFill>
                  <a:schemeClr val="lt1"/>
                </a:solidFill>
              </a:rPr>
              <a:t>Water and Gas: test MAPE decreased, indicating more stable forecasts.</a:t>
            </a:r>
            <a:endParaRPr sz="1000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endParaRPr sz="1000" dirty="0">
              <a:solidFill>
                <a:schemeClr val="lt1"/>
              </a:solidFill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4738" y="3598404"/>
            <a:ext cx="3413226" cy="1693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/>
          <p:nvPr/>
        </p:nvSpPr>
        <p:spPr>
          <a:xfrm>
            <a:off x="-3319353" y="1931562"/>
            <a:ext cx="5450194" cy="5055055"/>
          </a:xfrm>
          <a:custGeom>
            <a:avLst/>
            <a:gdLst/>
            <a:ahLst/>
            <a:cxnLst/>
            <a:rect l="l" t="t" r="r" b="b"/>
            <a:pathLst>
              <a:path w="10900388" h="10110110" extrusionOk="0">
                <a:moveTo>
                  <a:pt x="0" y="0"/>
                </a:moveTo>
                <a:lnTo>
                  <a:pt x="10900388" y="0"/>
                </a:lnTo>
                <a:lnTo>
                  <a:pt x="10900388" y="10110110"/>
                </a:lnTo>
                <a:lnTo>
                  <a:pt x="0" y="10110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6" name="Google Shape;216;p22"/>
          <p:cNvSpPr txBox="1"/>
          <p:nvPr/>
        </p:nvSpPr>
        <p:spPr>
          <a:xfrm>
            <a:off x="186400" y="584162"/>
            <a:ext cx="4479600" cy="44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lt1"/>
                </a:solidFill>
              </a:rPr>
              <a:t>Residual Analysis</a:t>
            </a:r>
            <a:endParaRPr sz="1300" b="1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 b="1" dirty="0">
                <a:solidFill>
                  <a:schemeClr val="lt1"/>
                </a:solidFill>
              </a:rPr>
              <a:t>Residuals vs time:</a:t>
            </a:r>
            <a:r>
              <a:rPr lang="en-GB" sz="1000" dirty="0">
                <a:solidFill>
                  <a:schemeClr val="lt1"/>
                </a:solidFill>
              </a:rPr>
              <a:t> Checked for randomness over time to ensure no remaining trend or seasonality</a:t>
            </a:r>
            <a:endParaRPr sz="1000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 b="1" dirty="0">
                <a:solidFill>
                  <a:schemeClr val="lt1"/>
                </a:solidFill>
              </a:rPr>
              <a:t>Residual distribution:</a:t>
            </a:r>
            <a:r>
              <a:rPr lang="en-GB" sz="1000" dirty="0">
                <a:solidFill>
                  <a:schemeClr val="lt1"/>
                </a:solidFill>
              </a:rPr>
              <a:t> Verified residuals are </a:t>
            </a:r>
            <a:r>
              <a:rPr lang="en-GB" sz="1000" dirty="0" err="1">
                <a:solidFill>
                  <a:schemeClr val="lt1"/>
                </a:solidFill>
              </a:rPr>
              <a:t>centered</a:t>
            </a:r>
            <a:r>
              <a:rPr lang="en-GB" sz="1000" dirty="0">
                <a:solidFill>
                  <a:schemeClr val="lt1"/>
                </a:solidFill>
              </a:rPr>
              <a:t> around zero with no strong skewness</a:t>
            </a:r>
            <a:endParaRPr sz="1000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 b="1" dirty="0">
                <a:solidFill>
                  <a:schemeClr val="lt1"/>
                </a:solidFill>
              </a:rPr>
              <a:t>Q–Q plot:</a:t>
            </a:r>
            <a:r>
              <a:rPr lang="en-GB" sz="1000" dirty="0">
                <a:solidFill>
                  <a:schemeClr val="lt1"/>
                </a:solidFill>
              </a:rPr>
              <a:t> Assessed whether residuals approximately follow a normal distribution</a:t>
            </a:r>
            <a:endParaRPr sz="1000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-GB" sz="1000" b="1" dirty="0">
                <a:solidFill>
                  <a:schemeClr val="lt1"/>
                </a:solidFill>
              </a:rPr>
              <a:t>ACF (autocorrelation):</a:t>
            </a:r>
            <a:r>
              <a:rPr lang="en-GB" sz="1000" dirty="0">
                <a:solidFill>
                  <a:schemeClr val="lt1"/>
                </a:solidFill>
              </a:rPr>
              <a:t> No significant autocorrelation remains in the residuals</a:t>
            </a:r>
            <a:endParaRPr sz="10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lt1"/>
                </a:solidFill>
              </a:rPr>
              <a:t>Conclusion</a:t>
            </a:r>
            <a:endParaRPr sz="1300" b="1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lang="en-GB" sz="1000" dirty="0">
                <a:solidFill>
                  <a:schemeClr val="lt1"/>
                </a:solidFill>
              </a:rPr>
              <a:t>Modelling trend + seasonality cut MAPE by </a:t>
            </a:r>
            <a:r>
              <a:rPr lang="en-GB" sz="1000" b="1" dirty="0">
                <a:solidFill>
                  <a:schemeClr val="lt1"/>
                </a:solidFill>
              </a:rPr>
              <a:t>21–59%</a:t>
            </a:r>
            <a:r>
              <a:rPr lang="en-GB" sz="1000" dirty="0">
                <a:solidFill>
                  <a:schemeClr val="lt1"/>
                </a:solidFill>
              </a:rPr>
              <a:t>, hence seasonality is crucial for energy data.</a:t>
            </a:r>
            <a:endParaRPr sz="1000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lang="en-GB" sz="1000" b="1" dirty="0">
                <a:solidFill>
                  <a:schemeClr val="lt1"/>
                </a:solidFill>
              </a:rPr>
              <a:t>Validation ≠ generalization:</a:t>
            </a:r>
            <a:r>
              <a:rPr lang="en-GB" sz="1000" dirty="0">
                <a:solidFill>
                  <a:schemeClr val="lt1"/>
                </a:solidFill>
              </a:rPr>
              <a:t> Electricity MAPE jumped from </a:t>
            </a:r>
            <a:r>
              <a:rPr lang="en-GB" sz="1000" b="1" dirty="0">
                <a:solidFill>
                  <a:schemeClr val="lt1"/>
                </a:solidFill>
              </a:rPr>
              <a:t>1.84% (</a:t>
            </a:r>
            <a:r>
              <a:rPr lang="en-GB" sz="1000" b="1" dirty="0" err="1">
                <a:solidFill>
                  <a:schemeClr val="lt1"/>
                </a:solidFill>
              </a:rPr>
              <a:t>val</a:t>
            </a:r>
            <a:r>
              <a:rPr lang="en-GB" sz="1000" b="1" dirty="0">
                <a:solidFill>
                  <a:schemeClr val="lt1"/>
                </a:solidFill>
              </a:rPr>
              <a:t>)</a:t>
            </a:r>
            <a:r>
              <a:rPr lang="en-GB" sz="1000" dirty="0">
                <a:solidFill>
                  <a:schemeClr val="lt1"/>
                </a:solidFill>
              </a:rPr>
              <a:t> to </a:t>
            </a:r>
            <a:r>
              <a:rPr lang="en-GB" sz="1000" b="1" dirty="0">
                <a:solidFill>
                  <a:schemeClr val="lt1"/>
                </a:solidFill>
              </a:rPr>
              <a:t>13.92% (test)</a:t>
            </a:r>
            <a:r>
              <a:rPr lang="en-GB" sz="1000" dirty="0">
                <a:solidFill>
                  <a:schemeClr val="lt1"/>
                </a:solidFill>
              </a:rPr>
              <a:t>, indicating model overfitting on validation data. When something changes, model can’t adjust.</a:t>
            </a:r>
            <a:endParaRPr sz="1000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lang="en-GB" sz="1000" b="1" dirty="0">
                <a:solidFill>
                  <a:schemeClr val="lt1"/>
                </a:solidFill>
              </a:rPr>
              <a:t>Metrics can deceive:</a:t>
            </a:r>
            <a:r>
              <a:rPr lang="en-GB" sz="1000" dirty="0">
                <a:solidFill>
                  <a:schemeClr val="lt1"/>
                </a:solidFill>
              </a:rPr>
              <a:t> A </a:t>
            </a:r>
            <a:r>
              <a:rPr lang="en-GB" sz="1000" b="1" dirty="0">
                <a:solidFill>
                  <a:schemeClr val="lt1"/>
                </a:solidFill>
              </a:rPr>
              <a:t>13.92% MAPE</a:t>
            </a:r>
            <a:r>
              <a:rPr lang="en-GB" sz="1000" dirty="0">
                <a:solidFill>
                  <a:schemeClr val="lt1"/>
                </a:solidFill>
              </a:rPr>
              <a:t> flat forecast already underperforms simple baselines. Don’t just check metrics, check how much variability is being captured for a more accurate estimation.</a:t>
            </a:r>
            <a:endParaRPr sz="1000" dirty="0">
              <a:solidFill>
                <a:schemeClr val="lt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</a:pPr>
            <a:r>
              <a:rPr lang="en-GB" sz="1000" b="1" dirty="0">
                <a:solidFill>
                  <a:schemeClr val="lt1"/>
                </a:solidFill>
              </a:rPr>
              <a:t>Exogenous inputs:</a:t>
            </a:r>
            <a:r>
              <a:rPr lang="en-GB" sz="1000" dirty="0">
                <a:solidFill>
                  <a:schemeClr val="lt1"/>
                </a:solidFill>
              </a:rPr>
              <a:t> Adding temperature, economic, and policy variables lets the model explain demand shifts, lowering the current </a:t>
            </a:r>
            <a:r>
              <a:rPr lang="en-GB" sz="1000" b="1" dirty="0">
                <a:solidFill>
                  <a:schemeClr val="lt1"/>
                </a:solidFill>
              </a:rPr>
              <a:t>17.90% MAPE limit</a:t>
            </a:r>
            <a:r>
              <a:rPr lang="en-GB" sz="1000" dirty="0">
                <a:solidFill>
                  <a:schemeClr val="lt1"/>
                </a:solidFill>
              </a:rPr>
              <a:t>.</a:t>
            </a:r>
            <a:endParaRPr sz="1000" b="1" dirty="0">
              <a:solidFill>
                <a:schemeClr val="lt1"/>
              </a:solidFill>
            </a:endParaRPr>
          </a:p>
        </p:txBody>
      </p:sp>
      <p:pic>
        <p:nvPicPr>
          <p:cNvPr id="217" name="Google Shape;2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5826" y="512175"/>
            <a:ext cx="3870724" cy="302622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274525" y="124025"/>
            <a:ext cx="5145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dirty="0">
                <a:solidFill>
                  <a:srgbClr val="FFFFFF"/>
                </a:solidFill>
              </a:rPr>
              <a:t>Insights and Conclusion </a:t>
            </a:r>
            <a:endParaRPr sz="34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dirty="0"/>
          </a:p>
        </p:txBody>
      </p:sp>
      <p:pic>
        <p:nvPicPr>
          <p:cNvPr id="219" name="Google Shape;21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4000" y="3668582"/>
            <a:ext cx="4203600" cy="1268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844</Words>
  <Application>Microsoft Office PowerPoint</Application>
  <PresentationFormat>On-screen Show (16:9)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Kandy Joey</cp:lastModifiedBy>
  <cp:revision>4</cp:revision>
  <dcterms:modified xsi:type="dcterms:W3CDTF">2026-02-08T18:58:52Z</dcterms:modified>
</cp:coreProperties>
</file>